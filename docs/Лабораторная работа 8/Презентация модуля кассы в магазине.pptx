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36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1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1A88-1569-4689-B90B-4DBFB26F5129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444A-72A8-4692-9AFE-574C448EF3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3222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1A88-1569-4689-B90B-4DBFB26F5129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444A-72A8-4692-9AFE-574C448EF3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4259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1A88-1569-4689-B90B-4DBFB26F5129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444A-72A8-4692-9AFE-574C448EF3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9464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1A88-1569-4689-B90B-4DBFB26F5129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444A-72A8-4692-9AFE-574C448EF3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77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1A88-1569-4689-B90B-4DBFB26F5129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444A-72A8-4692-9AFE-574C448EF3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6242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1A88-1569-4689-B90B-4DBFB26F5129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444A-72A8-4692-9AFE-574C448EF3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465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1A88-1569-4689-B90B-4DBFB26F5129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444A-72A8-4692-9AFE-574C448EF3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5495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1A88-1569-4689-B90B-4DBFB26F5129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444A-72A8-4692-9AFE-574C448EF3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371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1A88-1569-4689-B90B-4DBFB26F5129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444A-72A8-4692-9AFE-574C448EF3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820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1A88-1569-4689-B90B-4DBFB26F5129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444A-72A8-4692-9AFE-574C448EF3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9512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71A88-1569-4689-B90B-4DBFB26F5129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E444A-72A8-4692-9AFE-574C448EF3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6208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171A88-1569-4689-B90B-4DBFB26F5129}" type="datetimeFigureOut">
              <a:rPr lang="ru-RU" smtClean="0"/>
              <a:t>24.11.2025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E444A-72A8-4692-9AFE-574C448EF3D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1237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0"/>
            <a:ext cx="6098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3200" b="1" i="1" dirty="0">
              <a:latin typeface="Helvetica Neue" panose="02000503040000020004" pitchFamily="50" charset="-52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098400" y="0"/>
            <a:ext cx="60984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/>
          <p:cNvSpPr/>
          <p:nvPr/>
        </p:nvSpPr>
        <p:spPr>
          <a:xfrm>
            <a:off x="4838400" y="1417841"/>
            <a:ext cx="2520000" cy="25200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0089" y="2102753"/>
            <a:ext cx="1156621" cy="11566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64573" y="4826393"/>
            <a:ext cx="5461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i="1" dirty="0">
                <a:solidFill>
                  <a:schemeClr val="bg1"/>
                </a:solidFill>
                <a:latin typeface="Helvetica Neue" panose="02000503040000020004" pitchFamily="50" charset="-52"/>
              </a:rPr>
              <a:t>Модуль кассы в магазине</a:t>
            </a:r>
          </a:p>
        </p:txBody>
      </p:sp>
      <p:sp>
        <p:nvSpPr>
          <p:cNvPr id="14" name="Половина рамки 13"/>
          <p:cNvSpPr/>
          <p:nvPr/>
        </p:nvSpPr>
        <p:spPr>
          <a:xfrm rot="10800000">
            <a:off x="6654923" y="3393944"/>
            <a:ext cx="881657" cy="877809"/>
          </a:xfrm>
          <a:prstGeom prst="halfFram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5" name="Половина рамки 14"/>
          <p:cNvSpPr/>
          <p:nvPr/>
        </p:nvSpPr>
        <p:spPr>
          <a:xfrm rot="5400000">
            <a:off x="6652998" y="1085852"/>
            <a:ext cx="881657" cy="877809"/>
          </a:xfrm>
          <a:prstGeom prst="halfFram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6" name="Половина рамки 15"/>
          <p:cNvSpPr/>
          <p:nvPr/>
        </p:nvSpPr>
        <p:spPr>
          <a:xfrm>
            <a:off x="4486759" y="1141091"/>
            <a:ext cx="881657" cy="877809"/>
          </a:xfrm>
          <a:prstGeom prst="halfFram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7" name="Половина рамки 16"/>
          <p:cNvSpPr/>
          <p:nvPr/>
        </p:nvSpPr>
        <p:spPr>
          <a:xfrm rot="16200000">
            <a:off x="4484835" y="3392021"/>
            <a:ext cx="881657" cy="877809"/>
          </a:xfrm>
          <a:prstGeom prst="halfFram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-3463" y="0"/>
            <a:ext cx="2792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b="1" dirty="0">
                <a:solidFill>
                  <a:schemeClr val="bg1"/>
                </a:solidFill>
                <a:latin typeface="Helvetica Neue" panose="02000503040000020004" pitchFamily="50" charset="-52"/>
              </a:rPr>
              <a:t>Работу выполнили</a:t>
            </a:r>
            <a:br>
              <a:rPr lang="ru-RU" sz="1600" b="1" dirty="0">
                <a:solidFill>
                  <a:schemeClr val="bg1"/>
                </a:solidFill>
                <a:latin typeface="Helvetica Neue" panose="02000503040000020004" pitchFamily="50" charset="-52"/>
              </a:rPr>
            </a:br>
            <a:r>
              <a:rPr lang="ru-RU" sz="1600" b="1" dirty="0">
                <a:solidFill>
                  <a:schemeClr val="bg1"/>
                </a:solidFill>
                <a:latin typeface="Helvetica Neue" panose="02000503040000020004" pitchFamily="50" charset="-52"/>
              </a:rPr>
              <a:t>студенты группы ПИН-34</a:t>
            </a:r>
            <a:endParaRPr lang="ru-RU" sz="1600" dirty="0">
              <a:solidFill>
                <a:schemeClr val="bg1"/>
              </a:solidFill>
              <a:latin typeface="Helvetica Neue" panose="02000503040000020004" pitchFamily="50" charset="-52"/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9029168" y="1452"/>
            <a:ext cx="316763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sz="1600" dirty="0">
                <a:solidFill>
                  <a:schemeClr val="bg1"/>
                </a:solidFill>
                <a:latin typeface="Helvetica Neue" panose="02000503040000020004" pitchFamily="50" charset="-52"/>
              </a:rPr>
              <a:t>Кузнецов Антон Андреевич</a:t>
            </a:r>
          </a:p>
          <a:p>
            <a:pPr algn="r"/>
            <a:r>
              <a:rPr lang="ru-RU" sz="1600" dirty="0">
                <a:solidFill>
                  <a:schemeClr val="bg1"/>
                </a:solidFill>
                <a:latin typeface="Helvetica Neue" panose="02000503040000020004" pitchFamily="50" charset="-52"/>
              </a:rPr>
              <a:t>Ложкин Тимофей Дмитриевич</a:t>
            </a:r>
          </a:p>
          <a:p>
            <a:pPr algn="r"/>
            <a:r>
              <a:rPr lang="ru-RU" sz="1600" dirty="0" err="1">
                <a:solidFill>
                  <a:schemeClr val="bg1"/>
                </a:solidFill>
                <a:latin typeface="Helvetica Neue" panose="02000503040000020004" pitchFamily="50" charset="-52"/>
              </a:rPr>
              <a:t>Михаелян</a:t>
            </a:r>
            <a:r>
              <a:rPr lang="ru-RU" sz="1600" dirty="0">
                <a:solidFill>
                  <a:schemeClr val="bg1"/>
                </a:solidFill>
                <a:latin typeface="Helvetica Neue" panose="02000503040000020004" pitchFamily="50" charset="-52"/>
              </a:rPr>
              <a:t> Артем Сергеевич</a:t>
            </a:r>
          </a:p>
          <a:p>
            <a:pPr algn="r"/>
            <a:r>
              <a:rPr lang="ru-RU" sz="1600" dirty="0">
                <a:solidFill>
                  <a:schemeClr val="bg1"/>
                </a:solidFill>
                <a:latin typeface="Helvetica Neue" panose="02000503040000020004" pitchFamily="50" charset="-52"/>
              </a:rPr>
              <a:t>Тимошков Артём Алексеевич</a:t>
            </a:r>
          </a:p>
          <a:p>
            <a:pPr algn="r"/>
            <a:r>
              <a:rPr lang="ru-RU" sz="1600" dirty="0">
                <a:solidFill>
                  <a:schemeClr val="bg1"/>
                </a:solidFill>
                <a:latin typeface="Helvetica Neue" panose="02000503040000020004" pitchFamily="50" charset="-52"/>
              </a:rPr>
              <a:t>Матаков Максим Ярославович</a:t>
            </a:r>
          </a:p>
        </p:txBody>
      </p:sp>
    </p:spTree>
    <p:extLst>
      <p:ext uri="{BB962C8B-B14F-4D97-AF65-F5344CB8AC3E}">
        <p14:creationId xmlns:p14="http://schemas.microsoft.com/office/powerpoint/2010/main" val="2511039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/>
          <p:cNvSpPr>
            <a:spLocks noChangeAspect="1"/>
          </p:cNvSpPr>
          <p:nvPr/>
        </p:nvSpPr>
        <p:spPr>
          <a:xfrm>
            <a:off x="9269942" y="3029358"/>
            <a:ext cx="1798867" cy="180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>
            <a:spLocks noChangeAspect="1"/>
          </p:cNvSpPr>
          <p:nvPr/>
        </p:nvSpPr>
        <p:spPr>
          <a:xfrm>
            <a:off x="6470448" y="3029358"/>
            <a:ext cx="1798867" cy="180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>
            <a:spLocks noChangeAspect="1"/>
          </p:cNvSpPr>
          <p:nvPr/>
        </p:nvSpPr>
        <p:spPr>
          <a:xfrm>
            <a:off x="3670954" y="3029358"/>
            <a:ext cx="1798867" cy="180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>
            <a:spLocks noChangeAspect="1"/>
          </p:cNvSpPr>
          <p:nvPr/>
        </p:nvSpPr>
        <p:spPr>
          <a:xfrm>
            <a:off x="871460" y="3029358"/>
            <a:ext cx="1798867" cy="18000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ый треугольник 3"/>
          <p:cNvSpPr/>
          <p:nvPr/>
        </p:nvSpPr>
        <p:spPr>
          <a:xfrm flipH="1">
            <a:off x="0" y="0"/>
            <a:ext cx="12192000" cy="885524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8758" y="0"/>
            <a:ext cx="29642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i="1" u="sng" dirty="0">
                <a:latin typeface="Helvetica Neue" panose="02000503040000020004" pitchFamily="50" charset="-52"/>
              </a:rPr>
              <a:t>Цель проекта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11500" y="1511165"/>
            <a:ext cx="69689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600" dirty="0">
                <a:latin typeface="Helvetica Neue" panose="02000503040000020004" pitchFamily="50" charset="-52"/>
              </a:rPr>
              <a:t>Автоматизировать систему управления товарным учетом в розничном магазине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110" y="3241758"/>
            <a:ext cx="1375569" cy="1375569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2604" y="3241758"/>
            <a:ext cx="1375569" cy="137556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098" y="3241758"/>
            <a:ext cx="1375200" cy="13752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1223" y="3241758"/>
            <a:ext cx="1375200" cy="1375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7911" y="5041758"/>
            <a:ext cx="266142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latin typeface="Helvetica Neue" panose="02000503040000020004" pitchFamily="50" charset="-52"/>
              </a:rPr>
              <a:t>Сканирование штрих-кодов товаров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3571865" y="5070278"/>
            <a:ext cx="199704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i="1" dirty="0">
                <a:latin typeface="Helvetica Neue" panose="02000503040000020004" pitchFamily="50" charset="-52"/>
              </a:rPr>
              <a:t>Учет товара на складе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6251048" y="5070278"/>
            <a:ext cx="222881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i="1" dirty="0">
                <a:latin typeface="Helvetica Neue" panose="02000503040000020004" pitchFamily="50" charset="-52"/>
              </a:rPr>
              <a:t>Формирование отчетов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8793903" y="5070278"/>
            <a:ext cx="2749839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200" i="1" dirty="0">
                <a:latin typeface="Helvetica Neue" panose="02000503040000020004" pitchFamily="50" charset="-52"/>
              </a:rPr>
              <a:t>Продажа, возврат и списание товара</a:t>
            </a:r>
          </a:p>
        </p:txBody>
      </p:sp>
    </p:spTree>
    <p:extLst>
      <p:ext uri="{BB962C8B-B14F-4D97-AF65-F5344CB8AC3E}">
        <p14:creationId xmlns:p14="http://schemas.microsoft.com/office/powerpoint/2010/main" val="26903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ый треугольник 3"/>
          <p:cNvSpPr/>
          <p:nvPr/>
        </p:nvSpPr>
        <p:spPr>
          <a:xfrm flipH="1">
            <a:off x="0" y="0"/>
            <a:ext cx="12192000" cy="885524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8758" y="0"/>
            <a:ext cx="37930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i="1" u="sng" dirty="0">
                <a:latin typeface="Helvetica Neue" panose="02000503040000020004" pitchFamily="50" charset="-52"/>
              </a:rPr>
              <a:t>Жизненный цикл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58" y="1125353"/>
            <a:ext cx="876702" cy="8767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3995" y="1178983"/>
            <a:ext cx="77002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latin typeface="Helvetica Neue" panose="02000503040000020004" pitchFamily="50" charset="-52"/>
              </a:rPr>
              <a:t>Выбранный стандарт для реализации жизненного цикла: </a:t>
            </a:r>
            <a:r>
              <a:rPr lang="ru-RU" sz="2200" b="1" dirty="0">
                <a:latin typeface="Helvetica Neue" panose="02000503040000020004" pitchFamily="50" charset="-52"/>
              </a:rPr>
              <a:t>ГОСТ Р ИСО</a:t>
            </a:r>
            <a:r>
              <a:rPr lang="en-US" sz="2200" b="1" dirty="0">
                <a:latin typeface="Helvetica Neue" panose="02000503040000020004" pitchFamily="50" charset="-52"/>
              </a:rPr>
              <a:t>/</a:t>
            </a:r>
            <a:r>
              <a:rPr lang="ru-RU" sz="2200" b="1" dirty="0">
                <a:latin typeface="Helvetica Neue" panose="02000503040000020004" pitchFamily="50" charset="-52"/>
              </a:rPr>
              <a:t>МЭК 12207-2010</a:t>
            </a:r>
            <a:endParaRPr lang="ru-RU" sz="2200" dirty="0">
              <a:latin typeface="Helvetica Neue" panose="0200050304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28322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ый треугольник 3"/>
          <p:cNvSpPr/>
          <p:nvPr/>
        </p:nvSpPr>
        <p:spPr>
          <a:xfrm flipH="1">
            <a:off x="0" y="0"/>
            <a:ext cx="12192000" cy="885524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8758" y="0"/>
            <a:ext cx="37930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i="1" u="sng" dirty="0">
                <a:latin typeface="Helvetica Neue" panose="02000503040000020004" pitchFamily="50" charset="-52"/>
              </a:rPr>
              <a:t>Жизненный цикл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58" y="1125353"/>
            <a:ext cx="876702" cy="87670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93995" y="1178983"/>
            <a:ext cx="770021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>
                <a:latin typeface="Helvetica Neue" panose="02000503040000020004" pitchFamily="50" charset="-52"/>
              </a:rPr>
              <a:t>Выбранный стандарт для реализации жизненного цикла: </a:t>
            </a:r>
            <a:r>
              <a:rPr lang="ru-RU" sz="2200" b="1" dirty="0">
                <a:latin typeface="Helvetica Neue" panose="02000503040000020004" pitchFamily="50" charset="-52"/>
              </a:rPr>
              <a:t>ГОСТ Р ИСО</a:t>
            </a:r>
            <a:r>
              <a:rPr lang="en-US" sz="2200" b="1" dirty="0">
                <a:latin typeface="Helvetica Neue" panose="02000503040000020004" pitchFamily="50" charset="-52"/>
              </a:rPr>
              <a:t>/</a:t>
            </a:r>
            <a:r>
              <a:rPr lang="ru-RU" sz="2200" b="1" dirty="0">
                <a:latin typeface="Helvetica Neue" panose="02000503040000020004" pitchFamily="50" charset="-52"/>
              </a:rPr>
              <a:t>МЭК 12207-2010</a:t>
            </a:r>
            <a:endParaRPr lang="ru-RU" sz="2200" dirty="0">
              <a:latin typeface="Helvetica Neue" panose="02000503040000020004" pitchFamily="50" charset="-52"/>
            </a:endParaRPr>
          </a:p>
        </p:txBody>
      </p:sp>
      <p:sp>
        <p:nvSpPr>
          <p:cNvPr id="6" name="Кольцо 5"/>
          <p:cNvSpPr>
            <a:spLocks noChangeAspect="1"/>
          </p:cNvSpPr>
          <p:nvPr/>
        </p:nvSpPr>
        <p:spPr>
          <a:xfrm>
            <a:off x="4595376" y="2906025"/>
            <a:ext cx="2880000" cy="28800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Овал 6"/>
          <p:cNvSpPr>
            <a:spLocks noChangeAspect="1"/>
          </p:cNvSpPr>
          <p:nvPr/>
        </p:nvSpPr>
        <p:spPr>
          <a:xfrm>
            <a:off x="4849499" y="3160147"/>
            <a:ext cx="2369448" cy="236944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/>
          <p:cNvSpPr>
            <a:spLocks noChangeAspect="1"/>
          </p:cNvSpPr>
          <p:nvPr/>
        </p:nvSpPr>
        <p:spPr>
          <a:xfrm>
            <a:off x="5494223" y="2549891"/>
            <a:ext cx="1080000" cy="10800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/>
          <p:cNvSpPr>
            <a:spLocks noChangeAspect="1"/>
          </p:cNvSpPr>
          <p:nvPr/>
        </p:nvSpPr>
        <p:spPr>
          <a:xfrm>
            <a:off x="6807162" y="3804871"/>
            <a:ext cx="1080000" cy="10800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>
            <a:spLocks noChangeAspect="1"/>
          </p:cNvSpPr>
          <p:nvPr/>
        </p:nvSpPr>
        <p:spPr>
          <a:xfrm>
            <a:off x="5556000" y="5117810"/>
            <a:ext cx="1080000" cy="10800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>
            <a:spLocks noChangeAspect="1"/>
          </p:cNvSpPr>
          <p:nvPr/>
        </p:nvSpPr>
        <p:spPr>
          <a:xfrm>
            <a:off x="4208331" y="3804871"/>
            <a:ext cx="1080000" cy="10800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4223" y="2729891"/>
            <a:ext cx="720000" cy="720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78442" y="2037039"/>
            <a:ext cx="5483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i="1" dirty="0">
                <a:latin typeface="Helvetica Neue" panose="02000503040000020004" pitchFamily="50" charset="-52"/>
              </a:rPr>
              <a:t>Проектирование</a:t>
            </a:r>
            <a:r>
              <a:rPr lang="en-US" sz="2000" i="1" dirty="0">
                <a:latin typeface="Helvetica Neue" panose="02000503040000020004" pitchFamily="50" charset="-52"/>
              </a:rPr>
              <a:t> </a:t>
            </a:r>
            <a:r>
              <a:rPr lang="ru-RU" sz="2000" i="1" dirty="0">
                <a:latin typeface="Helvetica Neue" panose="02000503040000020004" pitchFamily="50" charset="-52"/>
              </a:rPr>
              <a:t>системы и ПО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9499" y="3984871"/>
            <a:ext cx="720000" cy="72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972132" y="4144816"/>
            <a:ext cx="20441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i="1" dirty="0">
                <a:latin typeface="Helvetica Neue" panose="02000503040000020004" pitchFamily="50" charset="-52"/>
              </a:rPr>
              <a:t>Разработка ПО</a:t>
            </a: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893" y="5343294"/>
            <a:ext cx="720000" cy="72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051350" y="6245740"/>
            <a:ext cx="39207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i="1" dirty="0">
                <a:latin typeface="Helvetica Neue" panose="02000503040000020004" pitchFamily="50" charset="-52"/>
              </a:rPr>
              <a:t>Тестирование и </a:t>
            </a:r>
            <a:r>
              <a:rPr lang="ru-RU" sz="2000" i="1" dirty="0" err="1">
                <a:latin typeface="Helvetica Neue" panose="02000503040000020004" pitchFamily="50" charset="-52"/>
              </a:rPr>
              <a:t>валидация</a:t>
            </a:r>
            <a:r>
              <a:rPr lang="ru-RU" sz="2000" i="1" dirty="0">
                <a:latin typeface="Helvetica Neue" panose="02000503040000020004" pitchFamily="50" charset="-52"/>
              </a:rPr>
              <a:t> ПО</a:t>
            </a: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8331" y="3984871"/>
            <a:ext cx="720000" cy="720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421346" y="3795492"/>
            <a:ext cx="16604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ru-RU" sz="2000" i="1" dirty="0">
                <a:latin typeface="Helvetica Neue" panose="02000503040000020004" pitchFamily="50" charset="-52"/>
              </a:rPr>
              <a:t>Сдача системы заказчику</a:t>
            </a:r>
          </a:p>
        </p:txBody>
      </p:sp>
    </p:spTree>
    <p:extLst>
      <p:ext uri="{BB962C8B-B14F-4D97-AF65-F5344CB8AC3E}">
        <p14:creationId xmlns:p14="http://schemas.microsoft.com/office/powerpoint/2010/main" val="2587264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ый треугольник 3"/>
          <p:cNvSpPr/>
          <p:nvPr/>
        </p:nvSpPr>
        <p:spPr>
          <a:xfrm flipH="1">
            <a:off x="0" y="0"/>
            <a:ext cx="12192000" cy="885524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8758" y="0"/>
            <a:ext cx="31454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i="1" u="sng" dirty="0">
                <a:latin typeface="Helvetica Neue" panose="02000503040000020004" pitchFamily="50" charset="-52"/>
              </a:rPr>
              <a:t>Документация</a:t>
            </a:r>
          </a:p>
        </p:txBody>
      </p:sp>
      <p:sp>
        <p:nvSpPr>
          <p:cNvPr id="6" name="Прямоугольник 5"/>
          <p:cNvSpPr>
            <a:spLocks/>
          </p:cNvSpPr>
          <p:nvPr/>
        </p:nvSpPr>
        <p:spPr>
          <a:xfrm>
            <a:off x="-12001" y="885523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>
            <a:spLocks/>
          </p:cNvSpPr>
          <p:nvPr/>
        </p:nvSpPr>
        <p:spPr>
          <a:xfrm>
            <a:off x="2437200" y="4365057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>
            <a:spLocks/>
          </p:cNvSpPr>
          <p:nvPr/>
        </p:nvSpPr>
        <p:spPr>
          <a:xfrm>
            <a:off x="4874400" y="885523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>
            <a:spLocks/>
          </p:cNvSpPr>
          <p:nvPr/>
        </p:nvSpPr>
        <p:spPr>
          <a:xfrm>
            <a:off x="7311600" y="4365056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>
            <a:spLocks/>
          </p:cNvSpPr>
          <p:nvPr/>
        </p:nvSpPr>
        <p:spPr>
          <a:xfrm>
            <a:off x="9754800" y="885523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Равнобедренный треугольник 17"/>
          <p:cNvSpPr/>
          <p:nvPr/>
        </p:nvSpPr>
        <p:spPr>
          <a:xfrm rot="10800000">
            <a:off x="0" y="3378465"/>
            <a:ext cx="2431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Равнобедренный треугольник 18"/>
          <p:cNvSpPr/>
          <p:nvPr/>
        </p:nvSpPr>
        <p:spPr>
          <a:xfrm>
            <a:off x="2431200" y="3679214"/>
            <a:ext cx="2443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Равнобедренный треугольник 19"/>
          <p:cNvSpPr/>
          <p:nvPr/>
        </p:nvSpPr>
        <p:spPr>
          <a:xfrm rot="10800000">
            <a:off x="4868400" y="3378466"/>
            <a:ext cx="2437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Равнобедренный треугольник 20"/>
          <p:cNvSpPr/>
          <p:nvPr/>
        </p:nvSpPr>
        <p:spPr>
          <a:xfrm>
            <a:off x="7325100" y="3679214"/>
            <a:ext cx="2422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Равнобедренный треугольник 21"/>
          <p:cNvSpPr/>
          <p:nvPr/>
        </p:nvSpPr>
        <p:spPr>
          <a:xfrm rot="10800000">
            <a:off x="9762300" y="3378466"/>
            <a:ext cx="2428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45" y="1125703"/>
            <a:ext cx="1080000" cy="108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0" y="2445883"/>
            <a:ext cx="23966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Техническое задание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54454" y="5611527"/>
            <a:ext cx="2396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Программа и методика испытаний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8653" y="2219432"/>
            <a:ext cx="2396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Руководство системного программиста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7182" y="5768472"/>
            <a:ext cx="23966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Руководство оператора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7053" y="2238086"/>
            <a:ext cx="2396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Ведомость </a:t>
            </a:r>
            <a:r>
              <a:rPr lang="ru-RU" sz="2200" i="1" dirty="0" err="1">
                <a:solidFill>
                  <a:schemeClr val="bg1"/>
                </a:solidFill>
                <a:latin typeface="Helvetica Neue" panose="02000503040000020004" pitchFamily="50" charset="-52"/>
              </a:rPr>
              <a:t>эксплуатац</a:t>
            </a:r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. документов</a:t>
            </a:r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998" y="1158086"/>
            <a:ext cx="1080000" cy="1080000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200" y="4448292"/>
            <a:ext cx="1080000" cy="1080000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799" y="4448292"/>
            <a:ext cx="1080000" cy="1080000"/>
          </a:xfrm>
          <a:prstGeom prst="rect">
            <a:avLst/>
          </a:prstGeom>
        </p:spPr>
      </p:pic>
      <p:pic>
        <p:nvPicPr>
          <p:cNvPr id="37" name="Рисунок 3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400" y="1125703"/>
            <a:ext cx="1080000" cy="1080000"/>
          </a:xfrm>
          <a:prstGeom prst="rect">
            <a:avLst/>
          </a:prstGeom>
        </p:spPr>
      </p:pic>
      <p:sp>
        <p:nvSpPr>
          <p:cNvPr id="54" name="Равнобедренный треугольник 53"/>
          <p:cNvSpPr/>
          <p:nvPr/>
        </p:nvSpPr>
        <p:spPr>
          <a:xfrm>
            <a:off x="2438957" y="3665110"/>
            <a:ext cx="2443200" cy="7173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2169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ый треугольник 3"/>
          <p:cNvSpPr/>
          <p:nvPr/>
        </p:nvSpPr>
        <p:spPr>
          <a:xfrm flipH="1">
            <a:off x="0" y="0"/>
            <a:ext cx="12192000" cy="885524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8758" y="0"/>
            <a:ext cx="31454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i="1" u="sng" dirty="0">
                <a:latin typeface="Helvetica Neue" panose="02000503040000020004" pitchFamily="50" charset="-52"/>
              </a:rPr>
              <a:t>Документация</a:t>
            </a:r>
          </a:p>
        </p:txBody>
      </p:sp>
      <p:sp>
        <p:nvSpPr>
          <p:cNvPr id="6" name="Прямоугольник 5"/>
          <p:cNvSpPr>
            <a:spLocks/>
          </p:cNvSpPr>
          <p:nvPr/>
        </p:nvSpPr>
        <p:spPr>
          <a:xfrm>
            <a:off x="-12001" y="885523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>
            <a:spLocks/>
          </p:cNvSpPr>
          <p:nvPr/>
        </p:nvSpPr>
        <p:spPr>
          <a:xfrm>
            <a:off x="2437200" y="4365057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>
            <a:spLocks/>
          </p:cNvSpPr>
          <p:nvPr/>
        </p:nvSpPr>
        <p:spPr>
          <a:xfrm>
            <a:off x="4874400" y="885523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>
            <a:spLocks/>
          </p:cNvSpPr>
          <p:nvPr/>
        </p:nvSpPr>
        <p:spPr>
          <a:xfrm>
            <a:off x="7311600" y="4365056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>
            <a:spLocks/>
          </p:cNvSpPr>
          <p:nvPr/>
        </p:nvSpPr>
        <p:spPr>
          <a:xfrm>
            <a:off x="9754800" y="885523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Равнобедренный треугольник 17"/>
          <p:cNvSpPr/>
          <p:nvPr/>
        </p:nvSpPr>
        <p:spPr>
          <a:xfrm rot="10800000">
            <a:off x="0" y="3378465"/>
            <a:ext cx="2431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Равнобедренный треугольник 18"/>
          <p:cNvSpPr/>
          <p:nvPr/>
        </p:nvSpPr>
        <p:spPr>
          <a:xfrm>
            <a:off x="2431200" y="3679214"/>
            <a:ext cx="2443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Равнобедренный треугольник 19"/>
          <p:cNvSpPr/>
          <p:nvPr/>
        </p:nvSpPr>
        <p:spPr>
          <a:xfrm rot="10800000">
            <a:off x="4868400" y="3378466"/>
            <a:ext cx="2437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Равнобедренный треугольник 20"/>
          <p:cNvSpPr/>
          <p:nvPr/>
        </p:nvSpPr>
        <p:spPr>
          <a:xfrm>
            <a:off x="7325100" y="3679214"/>
            <a:ext cx="2422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Равнобедренный треугольник 21"/>
          <p:cNvSpPr/>
          <p:nvPr/>
        </p:nvSpPr>
        <p:spPr>
          <a:xfrm rot="10800000">
            <a:off x="9762299" y="3378466"/>
            <a:ext cx="2411699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45" y="1125703"/>
            <a:ext cx="1080000" cy="108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0" y="2445883"/>
            <a:ext cx="23966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Техническое задание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54454" y="5611527"/>
            <a:ext cx="2396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Программа и методика испытаний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8653" y="2219432"/>
            <a:ext cx="2396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Руководство системного программиста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7182" y="5768472"/>
            <a:ext cx="23966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Руководство оператора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7053" y="2238086"/>
            <a:ext cx="2396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Ведомость </a:t>
            </a:r>
            <a:r>
              <a:rPr lang="ru-RU" sz="2200" i="1" dirty="0" err="1">
                <a:solidFill>
                  <a:schemeClr val="bg1"/>
                </a:solidFill>
                <a:latin typeface="Helvetica Neue" panose="02000503040000020004" pitchFamily="50" charset="-52"/>
              </a:rPr>
              <a:t>эксплуатац</a:t>
            </a:r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. документов</a:t>
            </a:r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998" y="1158086"/>
            <a:ext cx="1080000" cy="1080000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200" y="4448292"/>
            <a:ext cx="1080000" cy="1080000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799" y="4448292"/>
            <a:ext cx="1080000" cy="1080000"/>
          </a:xfrm>
          <a:prstGeom prst="rect">
            <a:avLst/>
          </a:prstGeom>
        </p:spPr>
      </p:pic>
      <p:pic>
        <p:nvPicPr>
          <p:cNvPr id="37" name="Рисунок 3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400" y="1125703"/>
            <a:ext cx="1080000" cy="1080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7156" y="4164977"/>
            <a:ext cx="22508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Цели, требования и условия разработки ПО</a:t>
            </a:r>
          </a:p>
        </p:txBody>
      </p:sp>
      <p:sp>
        <p:nvSpPr>
          <p:cNvPr id="30" name="Равнобедренный треугольник 29"/>
          <p:cNvSpPr/>
          <p:nvPr/>
        </p:nvSpPr>
        <p:spPr>
          <a:xfrm>
            <a:off x="2438957" y="3665110"/>
            <a:ext cx="2443200" cy="7173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0844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ый треугольник 3"/>
          <p:cNvSpPr/>
          <p:nvPr/>
        </p:nvSpPr>
        <p:spPr>
          <a:xfrm flipH="1">
            <a:off x="0" y="0"/>
            <a:ext cx="12192000" cy="885524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8758" y="0"/>
            <a:ext cx="31454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i="1" u="sng" dirty="0">
                <a:latin typeface="Helvetica Neue" panose="02000503040000020004" pitchFamily="50" charset="-52"/>
              </a:rPr>
              <a:t>Документация</a:t>
            </a:r>
          </a:p>
        </p:txBody>
      </p:sp>
      <p:sp>
        <p:nvSpPr>
          <p:cNvPr id="6" name="Прямоугольник 5"/>
          <p:cNvSpPr>
            <a:spLocks/>
          </p:cNvSpPr>
          <p:nvPr/>
        </p:nvSpPr>
        <p:spPr>
          <a:xfrm>
            <a:off x="-12001" y="885523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>
            <a:spLocks/>
          </p:cNvSpPr>
          <p:nvPr/>
        </p:nvSpPr>
        <p:spPr>
          <a:xfrm>
            <a:off x="2437200" y="4365057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>
            <a:spLocks/>
          </p:cNvSpPr>
          <p:nvPr/>
        </p:nvSpPr>
        <p:spPr>
          <a:xfrm>
            <a:off x="4874400" y="885523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>
            <a:spLocks/>
          </p:cNvSpPr>
          <p:nvPr/>
        </p:nvSpPr>
        <p:spPr>
          <a:xfrm>
            <a:off x="7311600" y="4365056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>
            <a:spLocks/>
          </p:cNvSpPr>
          <p:nvPr/>
        </p:nvSpPr>
        <p:spPr>
          <a:xfrm>
            <a:off x="9754800" y="885523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Равнобедренный треугольник 17"/>
          <p:cNvSpPr/>
          <p:nvPr/>
        </p:nvSpPr>
        <p:spPr>
          <a:xfrm rot="10800000">
            <a:off x="0" y="3378465"/>
            <a:ext cx="2431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Равнобедренный треугольник 18"/>
          <p:cNvSpPr/>
          <p:nvPr/>
        </p:nvSpPr>
        <p:spPr>
          <a:xfrm>
            <a:off x="2431200" y="3679214"/>
            <a:ext cx="2443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Равнобедренный треугольник 19"/>
          <p:cNvSpPr/>
          <p:nvPr/>
        </p:nvSpPr>
        <p:spPr>
          <a:xfrm rot="10800000">
            <a:off x="4868400" y="3378466"/>
            <a:ext cx="2437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Равнобедренный треугольник 20"/>
          <p:cNvSpPr/>
          <p:nvPr/>
        </p:nvSpPr>
        <p:spPr>
          <a:xfrm>
            <a:off x="7325100" y="3679214"/>
            <a:ext cx="2422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Равнобедренный треугольник 21"/>
          <p:cNvSpPr/>
          <p:nvPr/>
        </p:nvSpPr>
        <p:spPr>
          <a:xfrm rot="10800000">
            <a:off x="9762299" y="3378466"/>
            <a:ext cx="2411699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45" y="1125703"/>
            <a:ext cx="1080000" cy="108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0" y="2445883"/>
            <a:ext cx="23966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Техническое задание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54454" y="5611527"/>
            <a:ext cx="2396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Программа и методика испытаний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8653" y="2219432"/>
            <a:ext cx="2396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Руководство системного программиста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7182" y="5768472"/>
            <a:ext cx="23966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Руководство оператора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7053" y="2238086"/>
            <a:ext cx="2396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Ведомость </a:t>
            </a:r>
            <a:r>
              <a:rPr lang="ru-RU" sz="2200" i="1" dirty="0" err="1">
                <a:solidFill>
                  <a:schemeClr val="bg1"/>
                </a:solidFill>
                <a:latin typeface="Helvetica Neue" panose="02000503040000020004" pitchFamily="50" charset="-52"/>
              </a:rPr>
              <a:t>эксплуатац</a:t>
            </a:r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. документов</a:t>
            </a:r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998" y="1158086"/>
            <a:ext cx="1080000" cy="1080000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200" y="4448292"/>
            <a:ext cx="1080000" cy="1080000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799" y="4448292"/>
            <a:ext cx="1080000" cy="1080000"/>
          </a:xfrm>
          <a:prstGeom prst="rect">
            <a:avLst/>
          </a:prstGeom>
        </p:spPr>
      </p:pic>
      <p:pic>
        <p:nvPicPr>
          <p:cNvPr id="37" name="Рисунок 3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400" y="1125703"/>
            <a:ext cx="1080000" cy="1080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7156" y="4164977"/>
            <a:ext cx="22508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Цели, требования и условия разработки ПО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6690" y="2149429"/>
            <a:ext cx="23966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Порядок, методы и критерии тестирования</a:t>
            </a:r>
          </a:p>
        </p:txBody>
      </p:sp>
      <p:sp>
        <p:nvSpPr>
          <p:cNvPr id="30" name="Равнобедренный треугольник 29"/>
          <p:cNvSpPr/>
          <p:nvPr/>
        </p:nvSpPr>
        <p:spPr>
          <a:xfrm>
            <a:off x="2438957" y="3665110"/>
            <a:ext cx="2443200" cy="7173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316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ый треугольник 3"/>
          <p:cNvSpPr/>
          <p:nvPr/>
        </p:nvSpPr>
        <p:spPr>
          <a:xfrm flipH="1">
            <a:off x="0" y="0"/>
            <a:ext cx="12192000" cy="885524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8758" y="0"/>
            <a:ext cx="31454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i="1" u="sng" dirty="0">
                <a:latin typeface="Helvetica Neue" panose="02000503040000020004" pitchFamily="50" charset="-52"/>
              </a:rPr>
              <a:t>Документация</a:t>
            </a:r>
          </a:p>
        </p:txBody>
      </p:sp>
      <p:sp>
        <p:nvSpPr>
          <p:cNvPr id="6" name="Прямоугольник 5"/>
          <p:cNvSpPr>
            <a:spLocks/>
          </p:cNvSpPr>
          <p:nvPr/>
        </p:nvSpPr>
        <p:spPr>
          <a:xfrm>
            <a:off x="-21381" y="885522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>
            <a:spLocks/>
          </p:cNvSpPr>
          <p:nvPr/>
        </p:nvSpPr>
        <p:spPr>
          <a:xfrm>
            <a:off x="2437200" y="4365057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>
            <a:spLocks/>
          </p:cNvSpPr>
          <p:nvPr/>
        </p:nvSpPr>
        <p:spPr>
          <a:xfrm>
            <a:off x="4874400" y="885523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>
            <a:spLocks/>
          </p:cNvSpPr>
          <p:nvPr/>
        </p:nvSpPr>
        <p:spPr>
          <a:xfrm>
            <a:off x="7311600" y="4365056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>
            <a:spLocks/>
          </p:cNvSpPr>
          <p:nvPr/>
        </p:nvSpPr>
        <p:spPr>
          <a:xfrm>
            <a:off x="9754800" y="885523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Равнобедренный треугольник 17"/>
          <p:cNvSpPr/>
          <p:nvPr/>
        </p:nvSpPr>
        <p:spPr>
          <a:xfrm rot="10800000">
            <a:off x="0" y="3378465"/>
            <a:ext cx="2431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Равнобедренный треугольник 18"/>
          <p:cNvSpPr/>
          <p:nvPr/>
        </p:nvSpPr>
        <p:spPr>
          <a:xfrm>
            <a:off x="2431200" y="3679214"/>
            <a:ext cx="2443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Равнобедренный треугольник 19"/>
          <p:cNvSpPr/>
          <p:nvPr/>
        </p:nvSpPr>
        <p:spPr>
          <a:xfrm rot="10800000">
            <a:off x="4868400" y="3378466"/>
            <a:ext cx="2437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Равнобедренный треугольник 20"/>
          <p:cNvSpPr/>
          <p:nvPr/>
        </p:nvSpPr>
        <p:spPr>
          <a:xfrm>
            <a:off x="7325100" y="3679214"/>
            <a:ext cx="2422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Равнобедренный треугольник 21"/>
          <p:cNvSpPr/>
          <p:nvPr/>
        </p:nvSpPr>
        <p:spPr>
          <a:xfrm rot="10800000">
            <a:off x="9762299" y="3378466"/>
            <a:ext cx="2411699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45" y="1125703"/>
            <a:ext cx="1080000" cy="108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0" y="2445883"/>
            <a:ext cx="2396691" cy="76944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Техническое задание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54454" y="5611527"/>
            <a:ext cx="2396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Программа и методика испытаний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8653" y="2219432"/>
            <a:ext cx="2396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Руководство системного программиста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7182" y="5768472"/>
            <a:ext cx="23966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Руководство оператора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7053" y="2238086"/>
            <a:ext cx="2396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Ведомость </a:t>
            </a:r>
            <a:r>
              <a:rPr lang="ru-RU" sz="2200" i="1" dirty="0" err="1">
                <a:solidFill>
                  <a:schemeClr val="bg1"/>
                </a:solidFill>
                <a:latin typeface="Helvetica Neue" panose="02000503040000020004" pitchFamily="50" charset="-52"/>
              </a:rPr>
              <a:t>эксплуатац</a:t>
            </a:r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. документов</a:t>
            </a:r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998" y="1158086"/>
            <a:ext cx="1080000" cy="1080000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200" y="4448292"/>
            <a:ext cx="1080000" cy="1080000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799" y="4448292"/>
            <a:ext cx="1080000" cy="1080000"/>
          </a:xfrm>
          <a:prstGeom prst="rect">
            <a:avLst/>
          </a:prstGeom>
        </p:spPr>
      </p:pic>
      <p:pic>
        <p:nvPicPr>
          <p:cNvPr id="37" name="Рисунок 3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400" y="1125703"/>
            <a:ext cx="1080000" cy="1080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7156" y="4164977"/>
            <a:ext cx="22508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Цели, требования и условия разработки ПО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6690" y="2149429"/>
            <a:ext cx="23966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Порядок, методы и критерии тестирования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52885" y="4164977"/>
            <a:ext cx="248331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Установка, настройка и сопровождение системы</a:t>
            </a:r>
          </a:p>
        </p:txBody>
      </p:sp>
      <p:sp>
        <p:nvSpPr>
          <p:cNvPr id="30" name="Равнобедренный треугольник 29"/>
          <p:cNvSpPr/>
          <p:nvPr/>
        </p:nvSpPr>
        <p:spPr>
          <a:xfrm>
            <a:off x="2438957" y="3665110"/>
            <a:ext cx="2443200" cy="7173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335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ый треугольник 3"/>
          <p:cNvSpPr/>
          <p:nvPr/>
        </p:nvSpPr>
        <p:spPr>
          <a:xfrm flipH="1">
            <a:off x="0" y="0"/>
            <a:ext cx="12192000" cy="885524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8758" y="0"/>
            <a:ext cx="31454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i="1" u="sng" dirty="0">
                <a:latin typeface="Helvetica Neue" panose="02000503040000020004" pitchFamily="50" charset="-52"/>
              </a:rPr>
              <a:t>Документация</a:t>
            </a:r>
          </a:p>
        </p:txBody>
      </p:sp>
      <p:sp>
        <p:nvSpPr>
          <p:cNvPr id="6" name="Прямоугольник 5"/>
          <p:cNvSpPr>
            <a:spLocks/>
          </p:cNvSpPr>
          <p:nvPr/>
        </p:nvSpPr>
        <p:spPr>
          <a:xfrm>
            <a:off x="-12001" y="885523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>
            <a:spLocks/>
          </p:cNvSpPr>
          <p:nvPr/>
        </p:nvSpPr>
        <p:spPr>
          <a:xfrm>
            <a:off x="2437200" y="4365057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>
            <a:spLocks/>
          </p:cNvSpPr>
          <p:nvPr/>
        </p:nvSpPr>
        <p:spPr>
          <a:xfrm>
            <a:off x="4874400" y="885523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>
            <a:spLocks/>
          </p:cNvSpPr>
          <p:nvPr/>
        </p:nvSpPr>
        <p:spPr>
          <a:xfrm>
            <a:off x="7311600" y="4365056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>
            <a:spLocks/>
          </p:cNvSpPr>
          <p:nvPr/>
        </p:nvSpPr>
        <p:spPr>
          <a:xfrm>
            <a:off x="9754800" y="885523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Равнобедренный треугольник 17"/>
          <p:cNvSpPr/>
          <p:nvPr/>
        </p:nvSpPr>
        <p:spPr>
          <a:xfrm rot="10800000">
            <a:off x="0" y="3378465"/>
            <a:ext cx="2431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Равнобедренный треугольник 18"/>
          <p:cNvSpPr/>
          <p:nvPr/>
        </p:nvSpPr>
        <p:spPr>
          <a:xfrm>
            <a:off x="2431200" y="3679214"/>
            <a:ext cx="2443200" cy="703276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Равнобедренный треугольник 19"/>
          <p:cNvSpPr/>
          <p:nvPr/>
        </p:nvSpPr>
        <p:spPr>
          <a:xfrm rot="10800000">
            <a:off x="4868400" y="3378466"/>
            <a:ext cx="2437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Равнобедренный треугольник 20"/>
          <p:cNvSpPr/>
          <p:nvPr/>
        </p:nvSpPr>
        <p:spPr>
          <a:xfrm>
            <a:off x="7325100" y="3679214"/>
            <a:ext cx="2422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Равнобедренный треугольник 21"/>
          <p:cNvSpPr/>
          <p:nvPr/>
        </p:nvSpPr>
        <p:spPr>
          <a:xfrm rot="10800000">
            <a:off x="9762299" y="3378466"/>
            <a:ext cx="2411699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45" y="1125703"/>
            <a:ext cx="1080000" cy="108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0" y="2445883"/>
            <a:ext cx="23966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Техническое задание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54454" y="5611527"/>
            <a:ext cx="2396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Программа и методика испытаний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8653" y="2219432"/>
            <a:ext cx="2396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Руководство системного программиста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7182" y="5768472"/>
            <a:ext cx="23966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Руководство оператора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7053" y="2238086"/>
            <a:ext cx="2396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Ведомость </a:t>
            </a:r>
            <a:r>
              <a:rPr lang="ru-RU" sz="2200" i="1" dirty="0" err="1">
                <a:solidFill>
                  <a:schemeClr val="bg1"/>
                </a:solidFill>
                <a:latin typeface="Helvetica Neue" panose="02000503040000020004" pitchFamily="50" charset="-52"/>
              </a:rPr>
              <a:t>эксплуатац</a:t>
            </a:r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. документов</a:t>
            </a:r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998" y="1158086"/>
            <a:ext cx="1080000" cy="1080000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200" y="4448292"/>
            <a:ext cx="1080000" cy="1080000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799" y="4448292"/>
            <a:ext cx="1080000" cy="1080000"/>
          </a:xfrm>
          <a:prstGeom prst="rect">
            <a:avLst/>
          </a:prstGeom>
        </p:spPr>
      </p:pic>
      <p:pic>
        <p:nvPicPr>
          <p:cNvPr id="37" name="Рисунок 3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400" y="1125703"/>
            <a:ext cx="1080000" cy="1080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7156" y="4164977"/>
            <a:ext cx="22508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Цели, требования и условия разработки ПО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6690" y="2149429"/>
            <a:ext cx="23966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Порядок, методы и критерии тестирования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18471" y="2149428"/>
            <a:ext cx="29934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Работа с программой в повседневных задачах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52885" y="4164977"/>
            <a:ext cx="248331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Установка, настройка и сопровождение системы</a:t>
            </a:r>
          </a:p>
        </p:txBody>
      </p:sp>
      <p:sp>
        <p:nvSpPr>
          <p:cNvPr id="30" name="Равнобедренный треугольник 29"/>
          <p:cNvSpPr/>
          <p:nvPr/>
        </p:nvSpPr>
        <p:spPr>
          <a:xfrm>
            <a:off x="2438957" y="3665110"/>
            <a:ext cx="2443200" cy="7173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204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ый треугольник 3"/>
          <p:cNvSpPr/>
          <p:nvPr/>
        </p:nvSpPr>
        <p:spPr>
          <a:xfrm flipH="1">
            <a:off x="0" y="0"/>
            <a:ext cx="12192000" cy="885524"/>
          </a:xfrm>
          <a:prstGeom prst="rt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8758" y="0"/>
            <a:ext cx="314541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i="1" u="sng" dirty="0">
                <a:latin typeface="Helvetica Neue" panose="02000503040000020004" pitchFamily="50" charset="-52"/>
              </a:rPr>
              <a:t>Документация</a:t>
            </a:r>
          </a:p>
        </p:txBody>
      </p:sp>
      <p:sp>
        <p:nvSpPr>
          <p:cNvPr id="6" name="Прямоугольник 5"/>
          <p:cNvSpPr>
            <a:spLocks/>
          </p:cNvSpPr>
          <p:nvPr/>
        </p:nvSpPr>
        <p:spPr>
          <a:xfrm>
            <a:off x="-12001" y="885523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4" name="Прямоугольник 13"/>
          <p:cNvSpPr>
            <a:spLocks/>
          </p:cNvSpPr>
          <p:nvPr/>
        </p:nvSpPr>
        <p:spPr>
          <a:xfrm>
            <a:off x="2437200" y="4365057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>
            <a:spLocks/>
          </p:cNvSpPr>
          <p:nvPr/>
        </p:nvSpPr>
        <p:spPr>
          <a:xfrm>
            <a:off x="4874400" y="885523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>
            <a:spLocks/>
          </p:cNvSpPr>
          <p:nvPr/>
        </p:nvSpPr>
        <p:spPr>
          <a:xfrm>
            <a:off x="7311600" y="4365056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>
            <a:spLocks/>
          </p:cNvSpPr>
          <p:nvPr/>
        </p:nvSpPr>
        <p:spPr>
          <a:xfrm>
            <a:off x="9754800" y="885523"/>
            <a:ext cx="2437200" cy="249294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Равнобедренный треугольник 17"/>
          <p:cNvSpPr/>
          <p:nvPr/>
        </p:nvSpPr>
        <p:spPr>
          <a:xfrm rot="10800000">
            <a:off x="0" y="3378465"/>
            <a:ext cx="2431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Равнобедренный треугольник 18"/>
          <p:cNvSpPr/>
          <p:nvPr/>
        </p:nvSpPr>
        <p:spPr>
          <a:xfrm>
            <a:off x="2438957" y="3665110"/>
            <a:ext cx="2443200" cy="717379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Равнобедренный треугольник 19"/>
          <p:cNvSpPr/>
          <p:nvPr/>
        </p:nvSpPr>
        <p:spPr>
          <a:xfrm rot="10800000">
            <a:off x="4868400" y="3378466"/>
            <a:ext cx="2437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Равнобедренный треугольник 20"/>
          <p:cNvSpPr/>
          <p:nvPr/>
        </p:nvSpPr>
        <p:spPr>
          <a:xfrm>
            <a:off x="7325100" y="3679214"/>
            <a:ext cx="2422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Равнобедренный треугольник 21"/>
          <p:cNvSpPr/>
          <p:nvPr/>
        </p:nvSpPr>
        <p:spPr>
          <a:xfrm rot="10800000">
            <a:off x="9736799" y="3378466"/>
            <a:ext cx="2437200" cy="6858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45" y="1125703"/>
            <a:ext cx="1080000" cy="1080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0" y="2445883"/>
            <a:ext cx="23966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Техническое задание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54454" y="5611527"/>
            <a:ext cx="2396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Программа и методика испытаний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88653" y="2219432"/>
            <a:ext cx="2396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Руководство системного программиста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7182" y="5768472"/>
            <a:ext cx="23966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Руководство оператора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57053" y="2238086"/>
            <a:ext cx="239669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Ведомость </a:t>
            </a:r>
            <a:r>
              <a:rPr lang="ru-RU" sz="2200" i="1" dirty="0" err="1">
                <a:solidFill>
                  <a:schemeClr val="bg1"/>
                </a:solidFill>
                <a:latin typeface="Helvetica Neue" panose="02000503040000020004" pitchFamily="50" charset="-52"/>
              </a:rPr>
              <a:t>эксплуатац</a:t>
            </a:r>
            <a:r>
              <a:rPr lang="ru-RU" sz="2200" i="1" dirty="0">
                <a:solidFill>
                  <a:schemeClr val="bg1"/>
                </a:solidFill>
                <a:latin typeface="Helvetica Neue" panose="02000503040000020004" pitchFamily="50" charset="-52"/>
              </a:rPr>
              <a:t>. документов</a:t>
            </a:r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6998" y="1158086"/>
            <a:ext cx="1080000" cy="1080000"/>
          </a:xfrm>
          <a:prstGeom prst="rect">
            <a:avLst/>
          </a:prstGeom>
        </p:spPr>
      </p:pic>
      <p:pic>
        <p:nvPicPr>
          <p:cNvPr id="35" name="Рисунок 3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0200" y="4448292"/>
            <a:ext cx="1080000" cy="1080000"/>
          </a:xfrm>
          <a:prstGeom prst="rect">
            <a:avLst/>
          </a:prstGeom>
        </p:spPr>
      </p:pic>
      <p:pic>
        <p:nvPicPr>
          <p:cNvPr id="36" name="Рисунок 3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799" y="4448292"/>
            <a:ext cx="1080000" cy="1080000"/>
          </a:xfrm>
          <a:prstGeom prst="rect">
            <a:avLst/>
          </a:prstGeom>
        </p:spPr>
      </p:pic>
      <p:pic>
        <p:nvPicPr>
          <p:cNvPr id="37" name="Рисунок 36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400" y="1125703"/>
            <a:ext cx="1080000" cy="1080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7156" y="4164977"/>
            <a:ext cx="225088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Цели, требования и условия разработки ПО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6690" y="2149429"/>
            <a:ext cx="239669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Порядок, методы и критерии тестирования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18471" y="2149428"/>
            <a:ext cx="299345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Работа с программой в повседневных задачах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52885" y="4164977"/>
            <a:ext cx="248331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Установка, настройка и сопровождение системы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1865" y="4164977"/>
            <a:ext cx="238706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Вся документация, входящая в комплект поставки</a:t>
            </a:r>
          </a:p>
        </p:txBody>
      </p:sp>
    </p:spTree>
    <p:extLst>
      <p:ext uri="{BB962C8B-B14F-4D97-AF65-F5344CB8AC3E}">
        <p14:creationId xmlns:p14="http://schemas.microsoft.com/office/powerpoint/2010/main" val="36240010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ый треугольник 3"/>
          <p:cNvSpPr/>
          <p:nvPr/>
        </p:nvSpPr>
        <p:spPr>
          <a:xfrm flipH="1">
            <a:off x="0" y="0"/>
            <a:ext cx="12192000" cy="885524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8758" y="0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i="1" u="sng" dirty="0">
                <a:latin typeface="Helvetica Neue" panose="02000503040000020004" pitchFamily="50" charset="-52"/>
              </a:rPr>
              <a:t>Результат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0858" y="4721317"/>
            <a:ext cx="320224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Программное обеспечение кассового модуля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285" y="1325866"/>
            <a:ext cx="4221388" cy="317649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063" y="1323599"/>
            <a:ext cx="4002415" cy="31810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5149" y="4721317"/>
            <a:ext cx="320224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Набор документации для кассового модуля</a:t>
            </a:r>
          </a:p>
        </p:txBody>
      </p:sp>
    </p:spTree>
    <p:extLst>
      <p:ext uri="{BB962C8B-B14F-4D97-AF65-F5344CB8AC3E}">
        <p14:creationId xmlns:p14="http://schemas.microsoft.com/office/powerpoint/2010/main" val="2947515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Скругленный прямоугольник 12"/>
          <p:cNvSpPr>
            <a:spLocks noChangeAspect="1"/>
          </p:cNvSpPr>
          <p:nvPr/>
        </p:nvSpPr>
        <p:spPr>
          <a:xfrm>
            <a:off x="8557611" y="1959956"/>
            <a:ext cx="2158640" cy="21600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кругленный прямоугольник 11"/>
          <p:cNvSpPr>
            <a:spLocks noChangeAspect="1"/>
          </p:cNvSpPr>
          <p:nvPr/>
        </p:nvSpPr>
        <p:spPr>
          <a:xfrm>
            <a:off x="4958314" y="1959956"/>
            <a:ext cx="2158640" cy="21600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кругленный прямоугольник 10"/>
          <p:cNvSpPr>
            <a:spLocks noChangeAspect="1"/>
          </p:cNvSpPr>
          <p:nvPr/>
        </p:nvSpPr>
        <p:spPr>
          <a:xfrm>
            <a:off x="1314017" y="1914956"/>
            <a:ext cx="2158640" cy="21600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Прямоугольный треугольник 3"/>
          <p:cNvSpPr/>
          <p:nvPr/>
        </p:nvSpPr>
        <p:spPr>
          <a:xfrm flipH="1">
            <a:off x="0" y="0"/>
            <a:ext cx="12192000" cy="885524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288758" y="0"/>
            <a:ext cx="32271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b="1" i="1" u="sng" dirty="0">
                <a:latin typeface="Helvetica Neue" panose="02000503040000020004" pitchFamily="50" charset="-52"/>
              </a:rPr>
              <a:t>Преимущества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1931" y="2274956"/>
            <a:ext cx="1530000" cy="1530000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7634" y="2184956"/>
            <a:ext cx="1620000" cy="162000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337" y="2184956"/>
            <a:ext cx="1620000" cy="162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04672" y="4344956"/>
            <a:ext cx="29766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Автоматизация рабочего процесса</a:t>
            </a:r>
            <a:r>
              <a:rPr lang="en-US" sz="2200" dirty="0">
                <a:latin typeface="Helvetica Neue" panose="02000503040000020004" pitchFamily="50" charset="-52"/>
              </a:rPr>
              <a:t> </a:t>
            </a:r>
            <a:r>
              <a:rPr lang="ru-RU" sz="2200" dirty="0">
                <a:latin typeface="Helvetica Neue" panose="02000503040000020004" pitchFamily="50" charset="-52"/>
              </a:rPr>
              <a:t>и увеличение потока клиентов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9302" y="4344956"/>
            <a:ext cx="29766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Минимизация ошибок и сокращение расходов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25413" y="4348505"/>
            <a:ext cx="322303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200" dirty="0">
                <a:latin typeface="Helvetica Neue" panose="02000503040000020004" pitchFamily="50" charset="-52"/>
              </a:rPr>
              <a:t>Возможность дальнейшего расширения на кассы самообслуживания</a:t>
            </a:r>
          </a:p>
        </p:txBody>
      </p:sp>
    </p:spTree>
    <p:extLst>
      <p:ext uri="{BB962C8B-B14F-4D97-AF65-F5344CB8AC3E}">
        <p14:creationId xmlns:p14="http://schemas.microsoft.com/office/powerpoint/2010/main" val="23049837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924" y="2585936"/>
            <a:ext cx="3048000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237610" y="1215958"/>
            <a:ext cx="5288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b="1" i="1" dirty="0">
                <a:latin typeface="Helvetica Neue" panose="02000503040000020004" pitchFamily="50" charset="-52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18294259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318</Words>
  <Application>Microsoft Macintosh PowerPoint</Application>
  <PresentationFormat>Широкоэкранный</PresentationFormat>
  <Paragraphs>80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Helvetica Neue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Антон</dc:creator>
  <cp:lastModifiedBy>Антон Кузнецов</cp:lastModifiedBy>
  <cp:revision>56</cp:revision>
  <dcterms:created xsi:type="dcterms:W3CDTF">2025-11-24T00:04:25Z</dcterms:created>
  <dcterms:modified xsi:type="dcterms:W3CDTF">2025-11-24T07:43:01Z</dcterms:modified>
</cp:coreProperties>
</file>